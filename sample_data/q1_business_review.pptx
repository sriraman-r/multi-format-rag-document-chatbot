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Acme Retail — Q1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sales, customer, product and operating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Q1 revenue reached $17.15M across North, South, East and West.</a:t>
            </a:r>
          </a:p>
          <a:p>
            <a:pPr>
              <a:defRPr sz="2000"/>
            </a:pPr>
            <a:r>
              <a:t>South achieved 105% of its $4.0M target with $4.2M revenue.</a:t>
            </a:r>
          </a:p>
          <a:p>
            <a:pPr>
              <a:defRPr sz="2000"/>
            </a:pPr>
            <a:r>
              <a:t>West achieved 104% of its $4.5M target with $4.68M revenue.</a:t>
            </a:r>
          </a:p>
          <a:p>
            <a:pPr>
              <a:defRPr sz="2000"/>
            </a:pPr>
            <a:r>
              <a:t>North achieved 97.7% of target.</a:t>
            </a:r>
          </a:p>
          <a:p>
            <a:pPr>
              <a:defRPr sz="2000"/>
            </a:pPr>
            <a:r>
              <a:t>East achieved 95.0% of target.</a:t>
            </a:r>
          </a:p>
          <a:p>
            <a:pPr>
              <a:defRPr sz="2000"/>
            </a:pPr>
            <a:r>
              <a:t>Order fulfillment reached 96%, above the 95% target.</a:t>
            </a:r>
          </a:p>
          <a:p>
            <a:pPr>
              <a:defRPr sz="2000"/>
            </a:pPr>
            <a:r>
              <a:t>Customer satisfaction reached 4.4 out of 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9144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Achievement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Amit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$3.42M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-$0.08M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Priya Nair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+$0.20M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Rahul 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$2.85M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-$0.15M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Neha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$4.68M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+$0.18M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1143000">
                <a:tc>
                  <a:txBody>
                    <a:bodyPr/>
                    <a:lstStyle/>
                    <a:p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Achievement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Variance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$5.45M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+$0.25M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$5.72M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$5.55M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+$0.17M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$5.98M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$5.75M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+$0.23M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Region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South generated $4.2M revenue against a $4.0M target.</a:t>
            </a:r>
          </a:p>
          <a:p>
            <a:pPr>
              <a:defRPr sz="2000"/>
            </a:pPr>
            <a:r>
              <a:t>South achieved 105% of its quarterly target.</a:t>
            </a:r>
          </a:p>
          <a:p>
            <a:pPr>
              <a:defRPr sz="2000"/>
            </a:pPr>
            <a:r>
              <a:t>Smartphone X and Laptop Pro were major contributors.</a:t>
            </a:r>
          </a:p>
          <a:p>
            <a:pPr>
              <a:defRPr sz="2000"/>
            </a:pPr>
            <a:r>
              <a:t>South had the highest customer count among the four regions.</a:t>
            </a:r>
          </a:p>
          <a:p>
            <a:pPr>
              <a:defRPr sz="2000"/>
            </a:pPr>
            <a:r>
              <a:t>Retail and enterprise customers contributed significantly to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Region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West generated $4.68M revenue against a $4.5M target.</a:t>
            </a:r>
          </a:p>
          <a:p>
            <a:pPr>
              <a:defRPr sz="2000"/>
            </a:pPr>
            <a:r>
              <a:t>West achieved 104% of its quarterly target.</a:t>
            </a:r>
          </a:p>
          <a:p>
            <a:pPr>
              <a:defRPr sz="2000"/>
            </a:pPr>
            <a:r>
              <a:t>Electronics products were the strongest contributors.</a:t>
            </a:r>
          </a:p>
          <a:p>
            <a:pPr>
              <a:defRPr sz="2000"/>
            </a:pPr>
            <a:r>
              <a:t>Smartphone X showed strong demand in the West region.</a:t>
            </a:r>
          </a:p>
          <a:p>
            <a:pPr>
              <a:defRPr sz="2000"/>
            </a:pPr>
            <a:r>
              <a:t>West maintained strong delivery and customer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 Region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North generated $3.42M against a $3.5M target.</a:t>
            </a:r>
          </a:p>
          <a:p>
            <a:pPr>
              <a:defRPr sz="2000"/>
            </a:pPr>
            <a:r>
              <a:t>Target achievement was 97.7%.</a:t>
            </a:r>
          </a:p>
          <a:p>
            <a:pPr>
              <a:defRPr sz="2000"/>
            </a:pPr>
            <a:r>
              <a:t>The region missed its target by $80,000.</a:t>
            </a:r>
          </a:p>
          <a:p>
            <a:pPr>
              <a:defRPr sz="2000"/>
            </a:pPr>
            <a:r>
              <a:t>Grocery products showed relatively strong demand.</a:t>
            </a:r>
          </a:p>
          <a:p>
            <a:pPr>
              <a:defRPr sz="2000"/>
            </a:pPr>
            <a:r>
              <a:t>The team should focus on increasing electronics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East Region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East generated $2.85M against a $3.0M target.</a:t>
            </a:r>
          </a:p>
          <a:p>
            <a:pPr>
              <a:defRPr sz="2000"/>
            </a:pPr>
            <a:r>
              <a:t>Target achievement was 95%.</a:t>
            </a:r>
          </a:p>
          <a:p>
            <a:pPr>
              <a:defRPr sz="2000"/>
            </a:pPr>
            <a:r>
              <a:t>The region missed its target by $150,000.</a:t>
            </a:r>
          </a:p>
          <a:p>
            <a:pPr>
              <a:defRPr sz="2000"/>
            </a:pPr>
            <a:r>
              <a:t>Organic Tea and Premium Coffee showed strong demand.</a:t>
            </a:r>
          </a:p>
          <a:p>
            <a:pPr>
              <a:defRPr sz="2000"/>
            </a:pPr>
            <a:r>
              <a:t>Management plans to improve electronics sales in Q2.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715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Assessment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Order Fulfillment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Above Target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Return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Than Target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Customer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Above Target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Inventory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Below Target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On-time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Above Target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Cart 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Above Target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Customer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Above Target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Portfolio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51692">
                <a:tc>
                  <a:txBody>
                    <a:bodyPr/>
                    <a:lstStyle/>
                    <a:p>
                      <a:r>
                        <a:t>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ELX-001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Smartphone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5G smartphone for mainstream and premium customers.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ELX-002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Laptop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Lightweight business laptop designed for enterprise users.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HOM-001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 Fryer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Compact kitchen appliance with digital temperature controls.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HOM-002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Vacuum Cleaner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Cordless household vacuum for everyday cleaning.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GRC-001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Premium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Grocery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Premium roasted coffee sold through retail channels.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GRC-002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Organic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Grocery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Organic tea blend positioned as a premium grocery product.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ELX-003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Smart TV 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55-inch 4K smart television with streaming applications.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ELX-004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Wireless Earbuds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Noise-isolating wireless earbuds for mobile users.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HOM-003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Robot Mop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floor-cleaning device with smart navigation.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HOM-004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Blender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High-speed kitchen blender for household use.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GRC-003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Protein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Grocery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High-protein snack bars sold in multipacks.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r>
                        <a:t>GRC-004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Organic 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Grocery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Premium organic rice targeted at health-conscious customers.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351692">
                <a:tc>
                  <a:txBody>
                    <a:bodyPr/>
                    <a:lstStyle/>
                    <a:p>
                      <a:r>
                        <a:t>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ELX-001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Smartphone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Reorder Soon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ELX-002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Laptop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HOM-001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 Fryer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HOM-002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Vacuum Cleaner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GRC-001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Premium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GRC-002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Organic Tea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Reorder Soon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ELX-003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Smart TV 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ELX-004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Wireless Earbuds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HOM-003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Robot Mop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HOM-004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Blender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GRC-003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Protein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r>
                        <a:t>GRC-004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Organic 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South had approximately 15,400 customers.</a:t>
            </a:r>
          </a:p>
          <a:p>
            <a:pPr>
              <a:defRPr sz="2000"/>
            </a:pPr>
            <a:r>
              <a:t>West had approximately 16,700 customers.</a:t>
            </a:r>
          </a:p>
          <a:p>
            <a:pPr>
              <a:defRPr sz="2000"/>
            </a:pPr>
            <a:r>
              <a:t>North had approximately 12,800 customers.</a:t>
            </a:r>
          </a:p>
          <a:p>
            <a:pPr>
              <a:defRPr sz="2000"/>
            </a:pPr>
            <a:r>
              <a:t>East had approximately 10,900 customers.</a:t>
            </a:r>
          </a:p>
          <a:p>
            <a:pPr>
              <a:defRPr sz="2000"/>
            </a:pPr>
            <a:r>
              <a:t>Overall customer satisfaction was 4.4 out of 5.</a:t>
            </a:r>
          </a:p>
          <a:p>
            <a:pPr>
              <a:defRPr sz="2000"/>
            </a:pPr>
            <a:r>
              <a:t>Customer retention reached 84%, above the 82% target.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Smartphone X is one of the strongest electronics products.</a:t>
            </a:r>
          </a:p>
          <a:p>
            <a:pPr>
              <a:defRPr sz="2000"/>
            </a:pPr>
            <a:r>
              <a:t>Laptop Pro has strong enterprise demand.</a:t>
            </a:r>
          </a:p>
          <a:p>
            <a:pPr>
              <a:defRPr sz="2000"/>
            </a:pPr>
            <a:r>
              <a:t>Premium Coffee and Organic Tea perform well in the East.</a:t>
            </a:r>
          </a:p>
          <a:p>
            <a:pPr>
              <a:defRPr sz="2000"/>
            </a:pPr>
            <a:r>
              <a:t>Wireless Earbuds show strong demand in South and West.</a:t>
            </a:r>
          </a:p>
          <a:p>
            <a:pPr>
              <a:defRPr sz="2000"/>
            </a:pPr>
            <a:r>
              <a:t>Organic Rice has relatively strong demand in the East.</a:t>
            </a:r>
          </a:p>
          <a:p>
            <a:pPr>
              <a:defRPr sz="2000"/>
            </a:pPr>
            <a:r>
              <a:t>Inventory monitoring is recommended for Smartphone X and Organic Tea.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Improve East region performance from 95% toward 100% target.</a:t>
            </a:r>
          </a:p>
          <a:p>
            <a:pPr>
              <a:defRPr sz="2000"/>
            </a:pPr>
            <a:r>
              <a:t>Improve North region performance from 97.7% toward 100%.</a:t>
            </a:r>
          </a:p>
          <a:p>
            <a:pPr>
              <a:defRPr sz="2000"/>
            </a:pPr>
            <a:r>
              <a:t>Increase inventory availability from 93% toward the 95% target.</a:t>
            </a:r>
          </a:p>
          <a:p>
            <a:pPr>
              <a:defRPr sz="2000"/>
            </a:pPr>
            <a:r>
              <a:t>Maintain South and West momentum above 100% achievement.</a:t>
            </a:r>
          </a:p>
          <a:p>
            <a:pPr>
              <a:defRPr sz="2000"/>
            </a:pPr>
            <a:r>
              <a:t>Increase electronics sales in North and East.</a:t>
            </a:r>
          </a:p>
          <a:p>
            <a:pPr>
              <a:defRPr sz="2000"/>
            </a:pPr>
            <a:r>
              <a:t>Monitor high-demand products for stock-out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Increase Q2 inventory allocation for Smartphone X.</a:t>
            </a:r>
          </a:p>
          <a:p>
            <a:pPr>
              <a:defRPr sz="2000"/>
            </a:pPr>
            <a:r>
              <a:t>Review East regional sales strategy.</a:t>
            </a:r>
          </a:p>
          <a:p>
            <a:pPr>
              <a:defRPr sz="2000"/>
            </a:pPr>
            <a:r>
              <a:t>Create targeted enterprise campaigns for Laptop Pro.</a:t>
            </a:r>
          </a:p>
          <a:p>
            <a:pPr>
              <a:defRPr sz="2000"/>
            </a:pPr>
            <a:r>
              <a:t>Improve inventory forecasting.</a:t>
            </a:r>
          </a:p>
          <a:p>
            <a:pPr>
              <a:defRPr sz="2000"/>
            </a:pPr>
            <a:r>
              <a:t>Maintain current customer retention programs.</a:t>
            </a:r>
          </a:p>
          <a:p>
            <a:pPr>
              <a:defRPr sz="2000"/>
            </a:pPr>
            <a:r>
              <a:t>Continue monitoring regional target achievement monthly.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